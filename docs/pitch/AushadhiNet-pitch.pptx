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1" r:id="rId16"/>
    <p:sldId id="258" r:id="rId9"/>
    <p:sldId id="259" r:id="rId10"/>
    <p:sldId id="261" r:id="rId12"/>
    <p:sldId id="262" r:id="rId13"/>
    <p:sldId id="269" r:id="rId18"/>
    <p:sldId id="267" r:id="rId15"/>
    <p:sldId id="272" r:id="rId14"/>
    <p:sldId id="270" r:id="rId19"/>
    <p:sldId id="268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0.xml"/><Relationship Id="rId15" Type="http://schemas.openxmlformats.org/officeDocument/2006/relationships/slide" Target="slides/slide9.xml"/><Relationship Id="rId16" Type="http://schemas.openxmlformats.org/officeDocument/2006/relationships/slide" Target="slides/slide3.xml"/><Relationship Id="rId17" Type="http://schemas.openxmlformats.org/officeDocument/2006/relationships/slide" Target="slides/slide12.xml"/><Relationship Id="rId18" Type="http://schemas.openxmlformats.org/officeDocument/2006/relationships/slide" Target="slides/slide8.xml"/><Relationship Id="rId19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766E"/>
                </a:solidFill>
              </a:defRPr>
            </a:pPr>
            <a:r>
              <a:t>Build with AI: Code for Communities · Problem Statement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8181B"/>
                </a:solidFill>
              </a:defRPr>
            </a:pPr>
            <a:r>
              <a:t>AushadhiNet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2525B"/>
                </a:solidFill>
              </a:defRPr>
            </a:pPr>
            <a:r>
              <a:t>Early warning and rebalancing for public-health medicine supply, reported over WhatsApp.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0F766E"/>
                </a:solidFill>
              </a:defRPr>
            </a:pPr>
            <a:r>
              <a:t>Live on Google Cloud Run: aushadhinet-frontend-449585498230.asia-south1.run.app</a:t>
            </a:r>
          </a:p>
          <a:p>
            <a:pPr>
              <a:spcAft>
                <a:spcPts val="1000"/>
              </a:spcAft>
              <a:defRPr sz="1400" b="0">
                <a:solidFill>
                  <a:srgbClr val="0F766E"/>
                </a:solidFill>
              </a:defRPr>
            </a:pPr>
            <a:r>
              <a:t>Code: github.com/akshat333-debug/AushadhiNet</a:t>
            </a:r>
          </a:p>
        </p:txBody>
      </p:sp>
      <p:pic>
        <p:nvPicPr>
          <p:cNvPr id="7" name="Picture 6" descr="offic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46304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766E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8181B"/>
                </a:solidFill>
              </a:defRPr>
            </a:pPr>
            <a:r>
              <a:t>Clinics run dry while neighbours hold spare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8181B"/>
                </a:solidFill>
              </a:defRPr>
            </a:pPr>
            <a:r>
              <a:t>Primary health centres run out of ORS, zinc, iron tablets and antibiotics.</a:t>
            </a:r>
          </a:p>
          <a:p>
            <a:pPr>
              <a:spcAft>
                <a:spcPts val="1000"/>
              </a:spcAft>
              <a:defRPr sz="2200" b="0">
                <a:solidFill>
                  <a:srgbClr val="18181B"/>
                </a:solidFill>
              </a:defRPr>
            </a:pPr>
            <a:r>
              <a:t>Stock is reported late, on paper, and rarely compared across facilities.</a:t>
            </a:r>
          </a:p>
          <a:p>
            <a:pPr>
              <a:spcAft>
                <a:spcPts val="1000"/>
              </a:spcAft>
              <a:defRPr sz="2200" b="0">
                <a:solidFill>
                  <a:srgbClr val="18181B"/>
                </a:solidFill>
              </a:defRPr>
            </a:pPr>
            <a:r>
              <a:t>Shortage and surplus sit a few kilometres apart; nobody sees both in time.</a:t>
            </a:r>
          </a:p>
          <a:p>
            <a:pPr>
              <a:spcAft>
                <a:spcPts val="1000"/>
              </a:spcAft>
              <a:defRPr sz="2200" b="0">
                <a:solidFill>
                  <a:srgbClr val="18181B"/>
                </a:solidFill>
              </a:defRPr>
            </a:pPr>
            <a:r>
              <a:t>Frontline nurses won't adopt yet another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766E"/>
                </a:solidFill>
              </a:defRPr>
            </a:pPr>
            <a:r>
              <a:t>Who it serves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8181B"/>
                </a:solidFill>
              </a:defRPr>
            </a:pPr>
            <a:r>
              <a:t>Built around the district officer's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766E"/>
                </a:solidFill>
              </a:defRPr>
            </a:pPr>
            <a:r>
              <a:t>District officer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181B"/>
                </a:solidFill>
              </a:defRPr>
            </a:pPr>
            <a:r>
              <a:t>District health officer or pharmacist, on a laptop: what to escalate to the state, which transfers to approve, most urgent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766E"/>
                </a:solidFill>
              </a:defRPr>
            </a:pPr>
            <a:r>
              <a:t>Nurse at the facility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46888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181B"/>
                </a:solidFill>
              </a:defRPr>
            </a:pPr>
            <a:r>
              <a:t>ANM, staff nurse or pharmacist at a PHC or sub-centre, on a basic Android phone: reports in 30 seconds on WhatsApp, in their own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18288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766E"/>
                </a:solidFill>
              </a:defRPr>
            </a:pPr>
            <a:r>
              <a:t>Public and planners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46888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181B"/>
                </a:solidFill>
              </a:defRPr>
            </a:pPr>
            <a:r>
              <a:t>Citizens see district shortage totals, never a facility name. State planners see where to roll out next.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2525B"/>
                </a:solidFill>
              </a:defRPr>
            </a:pPr>
            <a:r>
              <a:t>The nurse never opens the website: WhatsApp is the interface. The officer gets decisions, not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766E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8181B"/>
                </a:solidFill>
              </a:defRPr>
            </a:pPr>
            <a:r>
              <a:t>Report → Forecast → Rebalance → Human approves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651760" cy="3108960"/>
          </a:xfrm>
          <a:prstGeom prst="round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766E"/>
                </a:solidFill>
              </a:defRPr>
            </a:pPr>
            <a:r>
              <a:t>1 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3464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181B"/>
                </a:solidFill>
              </a:defRPr>
            </a:pPr>
            <a:r>
              <a:t>Nurse sends stock on WhatsApp by text, voice note or register photo; beds as 'BEDS 4/6'; checks in by sharing location. 7 languages.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651760" cy="3108960"/>
          </a:xfrm>
          <a:prstGeom prst="round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766E"/>
                </a:solidFill>
              </a:defRPr>
            </a:pPr>
            <a:r>
              <a:t>2  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181B"/>
                </a:solidFill>
              </a:defRPr>
            </a:pPr>
            <a:r>
              <a:t>Next-week demand per facility from the last ledger week (beat LightGBM at this grain); stock-out risk from live stock.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2651760" cy="3108960"/>
          </a:xfrm>
          <a:prstGeom prst="round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766E"/>
                </a:solidFill>
              </a:defRPr>
            </a:pPr>
            <a:r>
              <a:t>3  Rebalance or escalate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3464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181B"/>
                </a:solidFill>
              </a:defRPr>
            </a:pPr>
            <a:r>
              <a:t>OR-Tools drafts transfers within a district or state-wide across districts (min 10 units). District-wide gaps also go to the state. Beds: referrals; staff: deputations.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011680"/>
            <a:ext cx="2651760" cy="3108960"/>
          </a:xfrm>
          <a:prstGeom prst="round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766E"/>
                </a:solidFill>
              </a:defRPr>
            </a:pPr>
            <a:r>
              <a:t>4  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83464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181B"/>
                </a:solidFill>
              </a:defRPr>
            </a:pPr>
            <a:r>
              <a:t>Approved only if the donor still has the units; KMS-signed to both ends; receiver confirms arrival. The agent never approves.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766E"/>
                </a:solidFill>
              </a:defRPr>
            </a:pPr>
            <a:r>
              <a:t>Nurse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8181B"/>
                </a:solidFill>
              </a:defRPr>
            </a:pPr>
            <a:r>
              <a:t>WhatsApp, 7 languages, no new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Text, a voice note or a photo of the register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Chirp 2 hears the note and detects the language; Gemini reads every line of a photo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Beds as 'BEDS 4/6'; staff check in by sharing location, flagged beyond 200 m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Nothing read by a model is saved until the nurse replies YES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English, Hindi, Marathi, Bengali, Tamil, Telugu, Kannada</a:t>
            </a:r>
          </a:p>
        </p:txBody>
      </p:sp>
      <p:pic>
        <p:nvPicPr>
          <p:cNvPr id="6" name="Picture 5" descr="whatsap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428750"/>
            <a:ext cx="69494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766E"/>
                </a:solidFill>
              </a:defRPr>
            </a:pPr>
            <a:r>
              <a:t>Officer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8181B"/>
                </a:solidFill>
              </a:defRPr>
            </a:pPr>
            <a:r>
              <a:t>The morning briefing: escalate or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Short across the district: a supply request to the state, with quantities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Local imbalance: OR-Tools drafts transfers, most urgent first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Beds and staff today: referral and deputation suggestions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Officer approves; Cloud KMS signs; both facilities alerted on WhatsApp</a:t>
            </a:r>
          </a:p>
        </p:txBody>
      </p:sp>
      <p:pic>
        <p:nvPicPr>
          <p:cNvPr id="6" name="Picture 5" descr="offi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1645920"/>
            <a:ext cx="6254496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766E"/>
                </a:solidFill>
              </a:defRPr>
            </a:pPr>
            <a:r>
              <a:t>Guardrailed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8181B"/>
                </a:solidFill>
              </a:defRPr>
            </a:pPr>
            <a:r>
              <a:t>Explains, never 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Asks by facility name; beds and staff too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Free-form questions: Gemini function calling over read-only, jurisdiction-checked tools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An answer with a number no tool returned is dropped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No approve or send tool: prompt injection has nothing to call</a:t>
            </a:r>
          </a:p>
        </p:txBody>
      </p:sp>
      <p:pic>
        <p:nvPicPr>
          <p:cNvPr id="6" name="Picture 5" descr="a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1645920"/>
            <a:ext cx="6254496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766E"/>
                </a:solidFill>
              </a:defRPr>
            </a:pPr>
            <a:r>
              <a:t>Google AI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8181B"/>
                </a:solidFill>
              </a:defRPr>
            </a:pPr>
            <a:r>
              <a:t>Gemini, Chirp and Vertex AI do the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0F766E"/>
                </a:solidFill>
              </a:defRPr>
            </a:pPr>
            <a: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2525B"/>
                </a:solidFill>
              </a:defRPr>
            </a:pPr>
            <a:r>
              <a:t>quantity read correctly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0F766E"/>
                </a:solidFill>
              </a:defRPr>
            </a:pPr>
            <a:r>
              <a:t>98.1%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743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2525B"/>
                </a:solidFill>
              </a:defRPr>
            </a:pPr>
            <a:r>
              <a:t>medicine matched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18288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0F766E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743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2525B"/>
                </a:solidFill>
              </a:defRPr>
            </a:pPr>
            <a:r>
              <a:t>scripts: English, Devanagari, Tamil, Bengali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8181B"/>
                </a:solidFill>
              </a:defRPr>
            </a:pPr>
            <a:r>
              <a:t>Gemini reads register photos: measured on 206 rendered register lines (synthetic text, not real handwriting).</a:t>
            </a:r>
          </a:p>
          <a:p>
            <a:pPr>
              <a:spcAft>
                <a:spcPts val="1000"/>
              </a:spcAft>
              <a:defRPr sz="1600" b="0">
                <a:solidFill>
                  <a:srgbClr val="18181B"/>
                </a:solidFill>
              </a:defRPr>
            </a:pPr>
            <a:r>
              <a:t>Chirp 2 transcribes voice notes and detects the language; Vertex AI embeddings match medicine names in 7 scripts.</a:t>
            </a:r>
          </a:p>
          <a:p>
            <a:pPr>
              <a:spcAft>
                <a:spcPts val="1000"/>
              </a:spcAft>
              <a:defRPr sz="1600" b="0">
                <a:solidFill>
                  <a:srgbClr val="18181B"/>
                </a:solidFill>
              </a:defRPr>
            </a:pPr>
            <a:r>
              <a:t>Every photo and voice read is confirmed by the nurse before it is saved: a model can be confidently wrong.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</a:defRPr>
            </a:pPr>
            <a:r>
              <a:t>Results and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8181B"/>
                </a:solidFill>
              </a:defRPr>
            </a:pPr>
            <a:r>
              <a:t>Live = deployed simulated pilot; offline = frozen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760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2525B"/>
                </a:solidFill>
              </a:defRPr>
            </a:pPr>
            <a:r>
              <a:t>facilities x 16 HMIS medicines in the Nashik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19%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6060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2525B"/>
                </a:solidFill>
              </a:defRPr>
            </a:pPr>
            <a:r>
              <a:t>lower error than naive on real HMIS district-month data (offline; the app serves naive)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1828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−6%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6060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2525B"/>
                </a:solidFill>
              </a:defRPr>
            </a:pPr>
            <a:r>
              <a:t>stock-out weeks in a 26-week replay, but unmet units +0.25% and ~570 transfers a week (offline)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2525B"/>
                </a:solidFill>
              </a:defRPr>
            </a:pPr>
            <a:r>
              <a:t>medicines escalated to the state, with supply quantities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290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2062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2525B"/>
                </a:solidFill>
              </a:defRPr>
            </a:pPr>
            <a:r>
              <a:t>cross-district drafts Dhule to Nashik in a state-wide run (live; Dhule stock is labelled demo data)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4290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98.1%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2062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2525B"/>
                </a:solidFill>
              </a:defRPr>
            </a:pPr>
            <a:r>
              <a:t>medicine read correctly by Gemini on register lines (100% quantity)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1,90,609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2525B"/>
                </a:solidFill>
              </a:defRPr>
            </a:pPr>
            <a:r>
              <a:t>facilities in 36 states and UTs listed, ready to onboard (not yet reporting)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029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8064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2525B"/>
                </a:solidFill>
              </a:defRPr>
            </a:pPr>
            <a:r>
              <a:t>Indian languages: UI, WhatsApp replies, voice,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5029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766E"/>
                </a:solidFill>
              </a:defRPr>
            </a:pPr>
            <a:r>
              <a:t>398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58064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2525B"/>
                </a:solidFill>
              </a:defRPr>
            </a:pPr>
            <a:r>
              <a:t>automated tests (381 backend + 17 E2E on Cloud Run)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766E"/>
                </a:solidFill>
              </a:defRPr>
            </a:pPr>
            <a:r>
              <a:t>Across India, and beyond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8181B"/>
                </a:solidFill>
              </a:defRPr>
            </a:pPr>
            <a:r>
              <a:t>Every state is listed; one district is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1,90,609 facilities in 678 districts, 36 states and UTs (MoHFW directory), unique IDs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A district goes live with its nurses' WhatsApp numbers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Federated training, simulated on 4 states' HMIS data: shares model updates, not rows; ties local-only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Planned: one Google Cloud project per state, running that federation for real</a:t>
            </a:r>
          </a:p>
          <a:p>
            <a:pPr>
              <a:spcAft>
                <a:spcPts val="1000"/>
              </a:spcAft>
              <a:defRPr sz="1800" b="0">
                <a:solidFill>
                  <a:srgbClr val="18181B"/>
                </a:solidFill>
              </a:defRPr>
            </a:pPr>
            <a:r>
              <a:t>Languages are data: a new one is a translation file</a:t>
            </a:r>
          </a:p>
        </p:txBody>
      </p:sp>
      <p:pic>
        <p:nvPicPr>
          <p:cNvPr id="6" name="Picture 5" descr="in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694944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766E"/>
                </a:solidFill>
              </a:defRPr>
            </a:pPr>
            <a:r>
              <a:t>Deployable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8181B"/>
                </a:solidFill>
              </a:defRPr>
            </a:pPr>
            <a:r>
              <a:t>A pilot in 4 weeks, on Google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766E"/>
                </a:solidFill>
              </a:defRPr>
            </a:pPr>
            <a:r>
              <a:t>Weeks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181B"/>
                </a:solidFill>
              </a:defRPr>
            </a:pPr>
            <a:r>
              <a:t>terraform apply provisions the state's 37 resources in its Google Cloud project; Cloud Build deploys: this one took a day. Load one block's nurse numbers; set up Twilio and Firebase sign-in.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766E"/>
                </a:solidFill>
              </a:defRPr>
            </a:pPr>
            <a:r>
              <a:t>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46888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181B"/>
                </a:solidFill>
              </a:defRPr>
            </a:pPr>
            <a:r>
              <a:t>Nurses report daily by text, voice or photo. Real register photos measure extraction accuracy.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18288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766E"/>
                </a:solidFill>
              </a:defRPr>
            </a:pPr>
            <a:r>
              <a:t>Week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46888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181B"/>
                </a:solidFill>
              </a:defRPr>
            </a:pPr>
            <a:r>
              <a:t>The officer approves transfers and sends supply requests. Compare stock-out weeks with a matched block not yet using it, same weeks.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2525B"/>
                </a:solidFill>
              </a:defRPr>
            </a:pPr>
            <a:r>
              <a:t>Cloud Run · Firestore · BigQuery · Pub/Sub · Cloud KMS · Secret Manager · Vertex AI · Gemini · Chirp 2, all from Terraform.</a:t>
            </a:r>
          </a:p>
          <a:p>
            <a:pPr>
              <a:spcAft>
                <a:spcPts val="1000"/>
              </a:spcAft>
              <a:defRPr sz="1500" b="0">
                <a:solidFill>
                  <a:srgbClr val="52525B"/>
                </a:solidFill>
              </a:defRPr>
            </a:pPr>
            <a:r>
              <a:t>Cloud Run scales to zero; this deployment runs on the GCP free-trial credit with a budget alert.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8181B"/>
                </a:solidFill>
              </a:defRPr>
            </a:pPr>
            <a:r>
              <a:t>Earlier warnings. Smarter sharing. People in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F766E"/>
                </a:solidFill>
              </a:defRPr>
            </a:pPr>
            <a:r>
              <a:t>Live on Google Cloud Run: aushadhinet-frontend-449585498230.asia-south1.run.app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52525B"/>
                </a:solidFill>
              </a:defRPr>
            </a:pPr>
            <a:r>
              <a:t>Next: pilot in one Nashik block with real registers.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