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7" r:id="rId15"/>
    <p:sldId id="265" r:id="rId16"/>
    <p:sldId id="268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Build with AI: Code for Communities · Problem Statement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AushadhiNet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52525B"/>
                </a:solidFill>
              </a:defRPr>
            </a:pPr>
            <a:r>
              <a:t>Early warning and rebalancing for public-health medicine supply, reported over WhatsApp.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0">
                <a:solidFill>
                  <a:srgbClr val="0F766E"/>
                </a:solidFill>
              </a:defRPr>
            </a:pPr>
            <a:r>
              <a:t>Live on Google Cloud Run: aushadhinet-frontend-449585498230.asia-south1.run.app</a:t>
            </a:r>
          </a:p>
          <a:p>
            <a:pPr>
              <a:spcAft>
                <a:spcPts val="1000"/>
              </a:spcAft>
              <a:defRPr sz="1400" b="0">
                <a:solidFill>
                  <a:srgbClr val="0F766E"/>
                </a:solidFill>
              </a:defRPr>
            </a:pPr>
            <a:r>
              <a:t>Code: github.com/akshat333-debug/AushadhiNet</a:t>
            </a:r>
          </a:p>
        </p:txBody>
      </p:sp>
      <p:pic>
        <p:nvPicPr>
          <p:cNvPr id="7" name="Picture 6" descr="s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63040"/>
            <a:ext cx="548640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Clinics run dry while neighbours hold spare stock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18181B"/>
                </a:solidFill>
              </a:defRPr>
            </a:pPr>
            <a:r>
              <a:t>Primary health centres run out of ORS, zinc, iron tablets and antibiotics.</a:t>
            </a:r>
          </a:p>
          <a:p>
            <a:pPr>
              <a:spcAft>
                <a:spcPts val="1000"/>
              </a:spcAft>
              <a:defRPr sz="2200" b="0">
                <a:solidFill>
                  <a:srgbClr val="18181B"/>
                </a:solidFill>
              </a:defRPr>
            </a:pPr>
            <a:r>
              <a:t>Stock is reported late, on paper, and rarely compared across facilities.</a:t>
            </a:r>
          </a:p>
          <a:p>
            <a:pPr>
              <a:spcAft>
                <a:spcPts val="1000"/>
              </a:spcAft>
              <a:defRPr sz="2200" b="0">
                <a:solidFill>
                  <a:srgbClr val="18181B"/>
                </a:solidFill>
              </a:defRPr>
            </a:pPr>
            <a:r>
              <a:t>Shortage and surplus sit a few kilometres apart; nobody sees both in time.</a:t>
            </a:r>
          </a:p>
          <a:p>
            <a:pPr>
              <a:spcAft>
                <a:spcPts val="1000"/>
              </a:spcAft>
              <a:defRPr sz="2200" b="0">
                <a:solidFill>
                  <a:srgbClr val="18181B"/>
                </a:solidFill>
              </a:defRPr>
            </a:pPr>
            <a:r>
              <a:t>Frontline nurses won't adopt yet another app.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Report → Forecast → Rebalance → Human approves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2651760" cy="3108960"/>
          </a:xfrm>
          <a:prstGeom prst="roundRect">
            <a:avLst/>
          </a:prstGeom>
          <a:solidFill>
            <a:srgbClr val="F0FDFA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766E"/>
                </a:solidFill>
              </a:defRPr>
            </a:pPr>
            <a:r>
              <a:t>1 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83464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Nurse sends stock on WhatsApp in 7 languages; unsure reads are confirmed first.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2011680"/>
            <a:ext cx="2651760" cy="3108960"/>
          </a:xfrm>
          <a:prstGeom prst="roundRect">
            <a:avLst/>
          </a:prstGeom>
          <a:solidFill>
            <a:srgbClr val="F0FDFA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766E"/>
                </a:solidFill>
              </a:defRPr>
            </a:pPr>
            <a:r>
              <a:t>2  Forecast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83464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LightGBM predicts next-week demand and stock-out probability per medicine.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011680"/>
            <a:ext cx="2651760" cy="3108960"/>
          </a:xfrm>
          <a:prstGeom prst="roundRect">
            <a:avLst/>
          </a:prstGeom>
          <a:solidFill>
            <a:srgbClr val="F0FDFA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766E"/>
                </a:solidFill>
              </a:defRPr>
            </a:pPr>
            <a:r>
              <a:t>3  Rebalance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83464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Google OR-Tools proposes transfers from nearby surplus to at-risk facilities.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2011680"/>
            <a:ext cx="2651760" cy="3108960"/>
          </a:xfrm>
          <a:prstGeom prst="roundRect">
            <a:avLst/>
          </a:prstGeom>
          <a:solidFill>
            <a:srgbClr val="F0FDFA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0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766E"/>
                </a:solidFill>
              </a:defRPr>
            </a:pPr>
            <a:r>
              <a:t>4  Approve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283464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Officer approves; both facilities notified. The AI agent can explain and draft, never approve.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Nurse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WhatsApp, no new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Text in any script, or a photo of the register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Gemini reads every line of a photo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Nothing is saved until the nurse confirms</a:t>
            </a:r>
          </a:p>
        </p:txBody>
      </p:sp>
      <p:pic>
        <p:nvPicPr>
          <p:cNvPr id="6" name="Picture 5" descr="s5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1645920"/>
            <a:ext cx="6949440" cy="39090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Multilingual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Seven Indian languages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English, Hindi, Marathi, Bengali, Tamil, Telugu, Kannada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UI, medicine names, replies and agent answers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Translations need native-speaker review</a:t>
            </a:r>
          </a:p>
        </p:txBody>
      </p:sp>
      <p:pic>
        <p:nvPicPr>
          <p:cNvPr id="6" name="Picture 5" descr="s7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1645920"/>
            <a:ext cx="6949440" cy="39090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Officer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Transfer orders, human in the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Solver drafts transfers (OR-Tools)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Officer approves or rejects each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Orders signed with Cloud KMS; both ends notified</a:t>
            </a:r>
          </a:p>
        </p:txBody>
      </p:sp>
      <p:pic>
        <p:nvPicPr>
          <p:cNvPr id="6" name="Picture 5" descr="s9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1645920"/>
            <a:ext cx="6949440" cy="39090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Guardrailed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Explains, never 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Answers from real forecast and stock data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Jurisdiction-scoped per officer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Refuses prompt-injection to approve orders</a:t>
            </a:r>
          </a:p>
        </p:txBody>
      </p:sp>
      <p:pic>
        <p:nvPicPr>
          <p:cNvPr id="6" name="Picture 5" descr="s1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645920"/>
            <a:ext cx="6949440" cy="39090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Measured on a frozen, held-out protocol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800" b="1">
                <a:solidFill>
                  <a:srgbClr val="0F766E"/>
                </a:solidFill>
              </a:defRPr>
            </a:pPr>
            <a:r>
              <a:t>0.871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1752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Forecast WAPE on real HMIS data</a:t>
            </a:r>
            <a:br/>
            <a:r>
              <a:t>vs 1.078 naive (19% better)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92024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800" b="1">
                <a:solidFill>
                  <a:srgbClr val="E11D48"/>
                </a:solidFill>
              </a:defRPr>
            </a:pPr>
            <a:r>
              <a:t>−6.0%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301752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Stock-out weeks in 26-week replay</a:t>
            </a:r>
            <a:br/>
            <a:r>
              <a:t>(synthetic Nashik ledger)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92024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800" b="1">
                <a:solidFill>
                  <a:srgbClr val="0F766E"/>
                </a:solidFill>
              </a:defRPr>
            </a:pPr>
            <a:r>
              <a:t>760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301752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Nashik facilities × 16 HMIS</a:t>
            </a:r>
            <a:br/>
            <a:r>
              <a:t>medicines in the pilot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192024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800" b="1">
                <a:solidFill>
                  <a:srgbClr val="0F766E"/>
                </a:solidFill>
              </a:defRPr>
            </a:pPr>
            <a: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301752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Languages end to 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937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Test window frozen before tuning; first model (L2) lost to naive and stays in the run log.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766E"/>
                </a:solidFill>
              </a:defRPr>
            </a:pPr>
            <a:r>
              <a:t>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8181B"/>
                </a:solidFill>
              </a:defRPr>
            </a:pPr>
            <a:r>
              <a:t>AushadhiNet by the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760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facilities monitored in Nashik 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8288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606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essential HMIS medicines tracked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59" y="18288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729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59" y="2606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facilities flagged at risk before stock-out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290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159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062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transfer orders drafted by OR-Tools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4290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7,251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42062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units rebalanced across 186 facilities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59" y="34290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19%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59" y="42062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lower forecast error than naive (WAPE 0.871)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029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−6%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8064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stock-out weeks in 26-week replay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5029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58064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Indian languages, end to 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59" y="5029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348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59" y="58064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automated tests (334 backend + 14 E2E, passing on Cloud Run)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Tech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Running on Google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18181B"/>
                </a:solidFill>
              </a:defRPr>
            </a:pPr>
            <a:r>
              <a:t>Cloud Run · Firestore · BigQuery · Pub/Sub · Cloud KMS · Secret Manager (Terraform)</a:t>
            </a:r>
          </a:p>
          <a:p>
            <a:pPr>
              <a:spcAft>
                <a:spcPts val="1000"/>
              </a:spcAft>
              <a:defRPr sz="2000" b="0">
                <a:solidFill>
                  <a:srgbClr val="18181B"/>
                </a:solidFill>
              </a:defRPr>
            </a:pPr>
            <a:r>
              <a:t>Gemini (register photos) · Vertex AI embeddings · Google OR-Tools</a:t>
            </a:r>
          </a:p>
          <a:p>
            <a:pPr>
              <a:spcAft>
                <a:spcPts val="1000"/>
              </a:spcAft>
              <a:defRPr sz="2000" b="0">
                <a:solidFill>
                  <a:srgbClr val="18181B"/>
                </a:solidFill>
              </a:defRPr>
            </a:pPr>
            <a:r>
              <a:t>LightGBM · FastAPI · Next.js 15 · 348 automated tests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766E"/>
                </a:solidFill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8181B"/>
                </a:solidFill>
              </a:defRPr>
            </a:pPr>
            <a:r>
              <a:t>Earlier warnings. Smarter sharing. People in control.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0F766E"/>
                </a:solidFill>
              </a:defRPr>
            </a:pPr>
            <a:r>
              <a:t>Live on Google Cloud Run: aushadhinet-frontend-449585498230.asia-south1.run.app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52525B"/>
                </a:solidFill>
              </a:defRPr>
            </a:pPr>
            <a:r>
              <a:t>Next: pilot in one Nashik block with real registers.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